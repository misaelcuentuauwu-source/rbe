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81C3"/>
    <a:srgbClr val="ED72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143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11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2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303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689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770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11/29/2025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68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103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50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162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347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44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D97A589B-A3B5-2901-A8E2-C9C7E167B547}"/>
              </a:ext>
            </a:extLst>
          </p:cNvPr>
          <p:cNvGrpSpPr/>
          <p:nvPr/>
        </p:nvGrpSpPr>
        <p:grpSpPr>
          <a:xfrm>
            <a:off x="9312000" y="-1"/>
            <a:ext cx="2880000" cy="6858000"/>
            <a:chOff x="9312000" y="-1"/>
            <a:chExt cx="2880000" cy="685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309E3C1-F54B-395A-C784-8CEFED071041}"/>
                </a:ext>
              </a:extLst>
            </p:cNvPr>
            <p:cNvSpPr/>
            <p:nvPr/>
          </p:nvSpPr>
          <p:spPr>
            <a:xfrm flipH="1">
              <a:off x="10752000" y="-1"/>
              <a:ext cx="1440000" cy="6858000"/>
            </a:xfrm>
            <a:prstGeom prst="rect">
              <a:avLst/>
            </a:prstGeom>
            <a:solidFill>
              <a:srgbClr val="1181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35110857-1D5F-D5CF-7239-A475EB3BD22E}"/>
                </a:ext>
              </a:extLst>
            </p:cNvPr>
            <p:cNvSpPr/>
            <p:nvPr/>
          </p:nvSpPr>
          <p:spPr>
            <a:xfrm>
              <a:off x="9312000" y="3977999"/>
              <a:ext cx="2880000" cy="2880000"/>
            </a:xfrm>
            <a:prstGeom prst="triangle">
              <a:avLst>
                <a:gd name="adj" fmla="val 100000"/>
              </a:avLst>
            </a:prstGeom>
            <a:solidFill>
              <a:srgbClr val="1181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CC0DA7A5-60D7-5ABF-AAC0-EB2EB9CE9D8D}"/>
                </a:ext>
              </a:extLst>
            </p:cNvPr>
            <p:cNvSpPr/>
            <p:nvPr/>
          </p:nvSpPr>
          <p:spPr>
            <a:xfrm flipV="1">
              <a:off x="9312000" y="-1"/>
              <a:ext cx="2880000" cy="2880000"/>
            </a:xfrm>
            <a:prstGeom prst="triangle">
              <a:avLst>
                <a:gd name="adj" fmla="val 100000"/>
              </a:avLst>
            </a:prstGeom>
            <a:solidFill>
              <a:srgbClr val="1181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AACE8ED-6D04-04D0-5B97-FE571F989501}"/>
              </a:ext>
            </a:extLst>
          </p:cNvPr>
          <p:cNvGrpSpPr/>
          <p:nvPr/>
        </p:nvGrpSpPr>
        <p:grpSpPr>
          <a:xfrm>
            <a:off x="0" y="-1"/>
            <a:ext cx="2880000" cy="6858001"/>
            <a:chOff x="0" y="-1"/>
            <a:chExt cx="2880000" cy="685800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25E376F-60A5-E696-65AB-A4C3E5CA66E4}"/>
                </a:ext>
              </a:extLst>
            </p:cNvPr>
            <p:cNvSpPr/>
            <p:nvPr/>
          </p:nvSpPr>
          <p:spPr>
            <a:xfrm>
              <a:off x="0" y="0"/>
              <a:ext cx="1440000" cy="6858000"/>
            </a:xfrm>
            <a:prstGeom prst="rect">
              <a:avLst/>
            </a:prstGeom>
            <a:solidFill>
              <a:srgbClr val="ED72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7442344B-8C32-6167-1855-E557D095238E}"/>
                </a:ext>
              </a:extLst>
            </p:cNvPr>
            <p:cNvSpPr/>
            <p:nvPr/>
          </p:nvSpPr>
          <p:spPr>
            <a:xfrm flipH="1">
              <a:off x="0" y="3977999"/>
              <a:ext cx="2880000" cy="2880000"/>
            </a:xfrm>
            <a:prstGeom prst="triangle">
              <a:avLst>
                <a:gd name="adj" fmla="val 100000"/>
              </a:avLst>
            </a:prstGeom>
            <a:solidFill>
              <a:srgbClr val="ED72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385A6783-E802-9CE5-86CD-43F16B7FDE1E}"/>
                </a:ext>
              </a:extLst>
            </p:cNvPr>
            <p:cNvSpPr/>
            <p:nvPr/>
          </p:nvSpPr>
          <p:spPr>
            <a:xfrm flipH="1" flipV="1">
              <a:off x="0" y="-1"/>
              <a:ext cx="2880000" cy="2880000"/>
            </a:xfrm>
            <a:prstGeom prst="triangle">
              <a:avLst>
                <a:gd name="adj" fmla="val 100000"/>
              </a:avLst>
            </a:prstGeom>
            <a:solidFill>
              <a:srgbClr val="ED72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7922323-8040-1C8D-B322-FCBEFA8409AE}"/>
              </a:ext>
            </a:extLst>
          </p:cNvPr>
          <p:cNvGrpSpPr/>
          <p:nvPr/>
        </p:nvGrpSpPr>
        <p:grpSpPr>
          <a:xfrm>
            <a:off x="4472939" y="1516775"/>
            <a:ext cx="3232445" cy="1403007"/>
            <a:chOff x="4551229" y="1016179"/>
            <a:chExt cx="3232445" cy="140300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E8DCA09-8808-415D-A77C-B557995F7E11}"/>
                </a:ext>
              </a:extLst>
            </p:cNvPr>
            <p:cNvSpPr txBox="1"/>
            <p:nvPr/>
          </p:nvSpPr>
          <p:spPr>
            <a:xfrm>
              <a:off x="4551229" y="1016179"/>
              <a:ext cx="1119322" cy="1403007"/>
            </a:xfrm>
            <a:custGeom>
              <a:avLst/>
              <a:gdLst/>
              <a:ahLst/>
              <a:cxnLst/>
              <a:rect l="l" t="t" r="r" b="b"/>
              <a:pathLst>
                <a:path w="1119322" h="1403007">
                  <a:moveTo>
                    <a:pt x="0" y="0"/>
                  </a:moveTo>
                  <a:lnTo>
                    <a:pt x="535507" y="0"/>
                  </a:lnTo>
                  <a:cubicBezTo>
                    <a:pt x="698591" y="0"/>
                    <a:pt x="825016" y="40428"/>
                    <a:pt x="914781" y="121285"/>
                  </a:cubicBezTo>
                  <a:cubicBezTo>
                    <a:pt x="1014825" y="211736"/>
                    <a:pt x="1064847" y="326512"/>
                    <a:pt x="1064847" y="465613"/>
                  </a:cubicBezTo>
                  <a:cubicBezTo>
                    <a:pt x="1064847" y="607456"/>
                    <a:pt x="1002833" y="727028"/>
                    <a:pt x="878807" y="824331"/>
                  </a:cubicBezTo>
                  <a:lnTo>
                    <a:pt x="1119322" y="1403007"/>
                  </a:lnTo>
                  <a:lnTo>
                    <a:pt x="681461" y="1403007"/>
                  </a:lnTo>
                  <a:lnTo>
                    <a:pt x="478975" y="950756"/>
                  </a:lnTo>
                  <a:lnTo>
                    <a:pt x="478975" y="589982"/>
                  </a:lnTo>
                  <a:lnTo>
                    <a:pt x="511866" y="589982"/>
                  </a:lnTo>
                  <a:cubicBezTo>
                    <a:pt x="599576" y="589982"/>
                    <a:pt x="643430" y="552295"/>
                    <a:pt x="643430" y="476919"/>
                  </a:cubicBezTo>
                  <a:cubicBezTo>
                    <a:pt x="643430" y="410452"/>
                    <a:pt x="592723" y="377219"/>
                    <a:pt x="491309" y="377219"/>
                  </a:cubicBezTo>
                  <a:lnTo>
                    <a:pt x="417305" y="377219"/>
                  </a:lnTo>
                  <a:lnTo>
                    <a:pt x="417305" y="1403007"/>
                  </a:lnTo>
                  <a:lnTo>
                    <a:pt x="0" y="1403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1C3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16600">
                <a:latin typeface="Bauhaus 93" panose="04030905020B02020C02" pitchFamily="8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4252E55-303A-E11B-D4D3-3DE76CB5B15C}"/>
                </a:ext>
              </a:extLst>
            </p:cNvPr>
            <p:cNvSpPr txBox="1"/>
            <p:nvPr/>
          </p:nvSpPr>
          <p:spPr>
            <a:xfrm>
              <a:off x="5808530" y="1016179"/>
              <a:ext cx="422091" cy="1403007"/>
            </a:xfrm>
            <a:custGeom>
              <a:avLst/>
              <a:gdLst/>
              <a:ahLst/>
              <a:cxnLst/>
              <a:rect l="l" t="t" r="r" b="b"/>
              <a:pathLst>
                <a:path w="422091" h="1403007">
                  <a:moveTo>
                    <a:pt x="0" y="0"/>
                  </a:moveTo>
                  <a:lnTo>
                    <a:pt x="422091" y="0"/>
                  </a:lnTo>
                  <a:lnTo>
                    <a:pt x="422091" y="376191"/>
                  </a:lnTo>
                  <a:lnTo>
                    <a:pt x="417305" y="376191"/>
                  </a:lnTo>
                  <a:lnTo>
                    <a:pt x="417305" y="1403007"/>
                  </a:lnTo>
                  <a:lnTo>
                    <a:pt x="0" y="1403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1C3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16600">
                <a:latin typeface="Bauhaus 93" panose="04030905020B02020C02" pitchFamily="82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A33B2BE-82F1-3164-279C-2CAD3C2EC7EE}"/>
                </a:ext>
              </a:extLst>
            </p:cNvPr>
            <p:cNvSpPr txBox="1"/>
            <p:nvPr/>
          </p:nvSpPr>
          <p:spPr>
            <a:xfrm>
              <a:off x="6230620" y="1016179"/>
              <a:ext cx="610892" cy="1403007"/>
            </a:xfrm>
            <a:custGeom>
              <a:avLst/>
              <a:gdLst/>
              <a:ahLst/>
              <a:cxnLst/>
              <a:rect l="l" t="t" r="r" b="b"/>
              <a:pathLst>
                <a:path w="610892" h="1403007">
                  <a:moveTo>
                    <a:pt x="0" y="0"/>
                  </a:moveTo>
                  <a:lnTo>
                    <a:pt x="87720" y="0"/>
                  </a:lnTo>
                  <a:cubicBezTo>
                    <a:pt x="389906" y="0"/>
                    <a:pt x="540999" y="118887"/>
                    <a:pt x="540999" y="356662"/>
                  </a:cubicBezTo>
                  <a:cubicBezTo>
                    <a:pt x="540999" y="474521"/>
                    <a:pt x="489264" y="572509"/>
                    <a:pt x="385794" y="650625"/>
                  </a:cubicBezTo>
                  <a:cubicBezTo>
                    <a:pt x="535859" y="715722"/>
                    <a:pt x="610892" y="831868"/>
                    <a:pt x="610892" y="999064"/>
                  </a:cubicBezTo>
                  <a:cubicBezTo>
                    <a:pt x="610892" y="1127202"/>
                    <a:pt x="566695" y="1229302"/>
                    <a:pt x="478300" y="1305362"/>
                  </a:cubicBezTo>
                  <a:cubicBezTo>
                    <a:pt x="435131" y="1341679"/>
                    <a:pt x="388878" y="1367033"/>
                    <a:pt x="339541" y="1381422"/>
                  </a:cubicBezTo>
                  <a:cubicBezTo>
                    <a:pt x="290205" y="1395812"/>
                    <a:pt x="223738" y="1403007"/>
                    <a:pt x="140140" y="1403007"/>
                  </a:cubicBezTo>
                  <a:lnTo>
                    <a:pt x="60996" y="1403007"/>
                  </a:lnTo>
                  <a:lnTo>
                    <a:pt x="60996" y="1042234"/>
                  </a:lnTo>
                  <a:lnTo>
                    <a:pt x="131917" y="1042234"/>
                  </a:lnTo>
                  <a:cubicBezTo>
                    <a:pt x="173716" y="1042234"/>
                    <a:pt x="203181" y="1036923"/>
                    <a:pt x="220312" y="1026302"/>
                  </a:cubicBezTo>
                  <a:cubicBezTo>
                    <a:pt x="237442" y="1015681"/>
                    <a:pt x="246008" y="997009"/>
                    <a:pt x="246008" y="970285"/>
                  </a:cubicBezTo>
                  <a:cubicBezTo>
                    <a:pt x="246008" y="925060"/>
                    <a:pt x="211061" y="902447"/>
                    <a:pt x="141168" y="902447"/>
                  </a:cubicBezTo>
                  <a:lnTo>
                    <a:pt x="60996" y="902447"/>
                  </a:lnTo>
                  <a:lnTo>
                    <a:pt x="60996" y="528312"/>
                  </a:lnTo>
                  <a:cubicBezTo>
                    <a:pt x="137741" y="528312"/>
                    <a:pt x="176115" y="501930"/>
                    <a:pt x="176115" y="449168"/>
                  </a:cubicBezTo>
                  <a:cubicBezTo>
                    <a:pt x="176115" y="400516"/>
                    <a:pt x="141510" y="376191"/>
                    <a:pt x="72302" y="376191"/>
                  </a:cubicBezTo>
                  <a:lnTo>
                    <a:pt x="0" y="3761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7237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16600">
                <a:latin typeface="Bauhaus 93" panose="04030905020B02020C02" pitchFamily="8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15E7F9F-DC10-F2A4-952F-32D14B8F8531}"/>
                </a:ext>
              </a:extLst>
            </p:cNvPr>
            <p:cNvSpPr txBox="1"/>
            <p:nvPr/>
          </p:nvSpPr>
          <p:spPr>
            <a:xfrm>
              <a:off x="6979900" y="1016179"/>
              <a:ext cx="803774" cy="1403007"/>
            </a:xfrm>
            <a:custGeom>
              <a:avLst/>
              <a:gdLst/>
              <a:ahLst/>
              <a:cxnLst/>
              <a:rect l="l" t="t" r="r" b="b"/>
              <a:pathLst>
                <a:path w="803774" h="1403007">
                  <a:moveTo>
                    <a:pt x="440945" y="0"/>
                  </a:moveTo>
                  <a:lnTo>
                    <a:pt x="803774" y="0"/>
                  </a:lnTo>
                  <a:lnTo>
                    <a:pt x="803774" y="402915"/>
                  </a:lnTo>
                  <a:lnTo>
                    <a:pt x="537562" y="402915"/>
                  </a:lnTo>
                  <a:cubicBezTo>
                    <a:pt x="465613" y="402915"/>
                    <a:pt x="429638" y="426212"/>
                    <a:pt x="429638" y="472808"/>
                  </a:cubicBezTo>
                  <a:cubicBezTo>
                    <a:pt x="429638" y="500217"/>
                    <a:pt x="438204" y="519232"/>
                    <a:pt x="455335" y="529853"/>
                  </a:cubicBezTo>
                  <a:cubicBezTo>
                    <a:pt x="472465" y="540474"/>
                    <a:pt x="502958" y="545785"/>
                    <a:pt x="546813" y="545785"/>
                  </a:cubicBezTo>
                  <a:lnTo>
                    <a:pt x="777050" y="545785"/>
                  </a:lnTo>
                  <a:lnTo>
                    <a:pt x="777050" y="858250"/>
                  </a:lnTo>
                  <a:lnTo>
                    <a:pt x="504671" y="858250"/>
                  </a:lnTo>
                  <a:cubicBezTo>
                    <a:pt x="467669" y="858250"/>
                    <a:pt x="441459" y="863731"/>
                    <a:pt x="426041" y="874695"/>
                  </a:cubicBezTo>
                  <a:cubicBezTo>
                    <a:pt x="410623" y="885659"/>
                    <a:pt x="402914" y="904160"/>
                    <a:pt x="402914" y="930199"/>
                  </a:cubicBezTo>
                  <a:cubicBezTo>
                    <a:pt x="402914" y="959664"/>
                    <a:pt x="410794" y="979021"/>
                    <a:pt x="426555" y="988272"/>
                  </a:cubicBezTo>
                  <a:cubicBezTo>
                    <a:pt x="442315" y="997523"/>
                    <a:pt x="474521" y="1002148"/>
                    <a:pt x="523172" y="1002148"/>
                  </a:cubicBezTo>
                  <a:lnTo>
                    <a:pt x="803774" y="1002148"/>
                  </a:lnTo>
                  <a:lnTo>
                    <a:pt x="803774" y="1403007"/>
                  </a:lnTo>
                  <a:lnTo>
                    <a:pt x="475891" y="1403007"/>
                  </a:lnTo>
                  <a:cubicBezTo>
                    <a:pt x="321715" y="1403007"/>
                    <a:pt x="203855" y="1366176"/>
                    <a:pt x="122313" y="1292514"/>
                  </a:cubicBezTo>
                  <a:cubicBezTo>
                    <a:pt x="40770" y="1218852"/>
                    <a:pt x="0" y="1112470"/>
                    <a:pt x="0" y="973368"/>
                  </a:cubicBezTo>
                  <a:lnTo>
                    <a:pt x="0" y="423472"/>
                  </a:lnTo>
                  <a:cubicBezTo>
                    <a:pt x="0" y="289167"/>
                    <a:pt x="38544" y="185012"/>
                    <a:pt x="115632" y="111007"/>
                  </a:cubicBezTo>
                  <a:cubicBezTo>
                    <a:pt x="192720" y="37002"/>
                    <a:pt x="301158" y="0"/>
                    <a:pt x="440945" y="0"/>
                  </a:cubicBezTo>
                  <a:close/>
                </a:path>
              </a:pathLst>
            </a:custGeom>
            <a:solidFill>
              <a:srgbClr val="ED7237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16600">
                <a:latin typeface="Bauhaus 93" panose="04030905020B02020C02" pitchFamily="82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98E8F3B-343F-AFEF-33F4-1A54A15E0B19}"/>
                </a:ext>
              </a:extLst>
            </p:cNvPr>
            <p:cNvSpPr/>
            <p:nvPr/>
          </p:nvSpPr>
          <p:spPr>
            <a:xfrm flipH="1">
              <a:off x="6223987" y="1016179"/>
              <a:ext cx="68228" cy="14030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35D1659D-104C-8DEA-609C-EDF6107E82F9}"/>
              </a:ext>
            </a:extLst>
          </p:cNvPr>
          <p:cNvSpPr txBox="1"/>
          <p:nvPr/>
        </p:nvSpPr>
        <p:spPr>
          <a:xfrm>
            <a:off x="4729504" y="3411075"/>
            <a:ext cx="2783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ln w="12700">
                  <a:solidFill>
                    <a:srgbClr val="1181C3"/>
                  </a:solidFill>
                </a:ln>
                <a:solidFill>
                  <a:srgbClr val="1181C3"/>
                </a:solidFill>
                <a:latin typeface="Bahnschrift SemiBold Condensed" panose="020B0502040204020203" pitchFamily="34" charset="0"/>
                <a:cs typeface="Aharoni" panose="02010803020104030203" pitchFamily="2" charset="-79"/>
              </a:rPr>
              <a:t>R</a:t>
            </a:r>
            <a:r>
              <a:rPr lang="en-US" sz="3200">
                <a:ln w="12700">
                  <a:solidFill>
                    <a:srgbClr val="ED7237"/>
                  </a:solidFill>
                </a:ln>
                <a:solidFill>
                  <a:srgbClr val="ED7237"/>
                </a:solidFill>
                <a:latin typeface="Bahnschrift SemiBold Condensed" panose="020B0502040204020203" pitchFamily="34" charset="0"/>
                <a:cs typeface="Aharoni" panose="02010803020104030203" pitchFamily="2" charset="-79"/>
              </a:rPr>
              <a:t>utas </a:t>
            </a:r>
            <a:r>
              <a:rPr lang="en-US" sz="3200">
                <a:ln w="12700">
                  <a:solidFill>
                    <a:srgbClr val="1181C3"/>
                  </a:solidFill>
                </a:ln>
                <a:solidFill>
                  <a:srgbClr val="1181C3"/>
                </a:solidFill>
                <a:latin typeface="Bahnschrift SemiBold Condensed" panose="020B0502040204020203" pitchFamily="34" charset="0"/>
                <a:cs typeface="Aharoni" panose="02010803020104030203" pitchFamily="2" charset="-79"/>
              </a:rPr>
              <a:t>B</a:t>
            </a:r>
            <a:r>
              <a:rPr lang="en-US" sz="3200">
                <a:ln w="12700">
                  <a:solidFill>
                    <a:srgbClr val="ED7237"/>
                  </a:solidFill>
                </a:ln>
                <a:solidFill>
                  <a:srgbClr val="ED7237"/>
                </a:solidFill>
                <a:latin typeface="Bahnschrift SemiBold Condensed" panose="020B0502040204020203" pitchFamily="34" charset="0"/>
                <a:cs typeface="Aharoni" panose="02010803020104030203" pitchFamily="2" charset="-79"/>
              </a:rPr>
              <a:t>aja </a:t>
            </a:r>
            <a:r>
              <a:rPr lang="en-US" sz="3200">
                <a:ln w="12700">
                  <a:solidFill>
                    <a:srgbClr val="1181C3"/>
                  </a:solidFill>
                </a:ln>
                <a:solidFill>
                  <a:srgbClr val="1181C3"/>
                </a:solidFill>
                <a:latin typeface="Bahnschrift SemiBold Condensed" panose="020B0502040204020203" pitchFamily="34" charset="0"/>
                <a:cs typeface="Aharoni" panose="02010803020104030203" pitchFamily="2" charset="-79"/>
              </a:rPr>
              <a:t>E</a:t>
            </a:r>
            <a:r>
              <a:rPr lang="en-US" sz="3200">
                <a:ln w="12700">
                  <a:solidFill>
                    <a:srgbClr val="ED7237"/>
                  </a:solidFill>
                </a:ln>
                <a:solidFill>
                  <a:srgbClr val="ED7237"/>
                </a:solidFill>
                <a:latin typeface="Bahnschrift SemiBold Condensed" panose="020B0502040204020203" pitchFamily="34" charset="0"/>
                <a:cs typeface="Aharoni" panose="02010803020104030203" pitchFamily="2" charset="-79"/>
              </a:rPr>
              <a:t>xpress</a:t>
            </a:r>
            <a:endParaRPr lang="es-MX" sz="3200">
              <a:ln w="12700">
                <a:solidFill>
                  <a:srgbClr val="ED7237"/>
                </a:solidFill>
              </a:ln>
              <a:solidFill>
                <a:srgbClr val="ED7237"/>
              </a:solidFill>
              <a:latin typeface="Bahnschrift SemiBold Condensed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A77068-B409-4995-1B0E-8C9FCF2CB1A0}"/>
              </a:ext>
            </a:extLst>
          </p:cNvPr>
          <p:cNvSpPr txBox="1"/>
          <p:nvPr/>
        </p:nvSpPr>
        <p:spPr>
          <a:xfrm>
            <a:off x="3449296" y="4264006"/>
            <a:ext cx="5293408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3200" i="1" dirty="0">
                <a:ln w="12700">
                  <a:solidFill>
                    <a:srgbClr val="1181C3"/>
                  </a:solidFill>
                </a:ln>
                <a:solidFill>
                  <a:srgbClr val="1181C3"/>
                </a:solidFill>
                <a:latin typeface="Bahnschrift SemiCondensed"/>
                <a:cs typeface="Aharoni"/>
              </a:rPr>
              <a:t>¿</a:t>
            </a:r>
            <a:r>
              <a:rPr lang="en-US" sz="3200" i="1" dirty="0" err="1">
                <a:ln w="12700">
                  <a:solidFill>
                    <a:srgbClr val="1181C3"/>
                  </a:solidFill>
                </a:ln>
                <a:solidFill>
                  <a:srgbClr val="1181C3"/>
                </a:solidFill>
                <a:latin typeface="Bahnschrift SemiCondensed"/>
                <a:cs typeface="Aharoni"/>
              </a:rPr>
              <a:t>Cansado</a:t>
            </a:r>
            <a:r>
              <a:rPr lang="en-US" sz="3200" i="1" dirty="0">
                <a:ln w="12700">
                  <a:solidFill>
                    <a:srgbClr val="1181C3"/>
                  </a:solidFill>
                </a:ln>
                <a:solidFill>
                  <a:srgbClr val="1181C3"/>
                </a:solidFill>
                <a:latin typeface="Bahnschrift SemiCondensed"/>
                <a:cs typeface="Aharoni"/>
              </a:rPr>
              <a:t> de </a:t>
            </a:r>
            <a:r>
              <a:rPr lang="en-US" sz="3200" i="1" dirty="0" err="1">
                <a:ln w="12700">
                  <a:solidFill>
                    <a:srgbClr val="1181C3"/>
                  </a:solidFill>
                </a:ln>
                <a:solidFill>
                  <a:srgbClr val="1181C3"/>
                </a:solidFill>
                <a:latin typeface="Bahnschrift SemiCondensed"/>
                <a:cs typeface="Aharoni"/>
              </a:rPr>
              <a:t>filas</a:t>
            </a:r>
            <a:r>
              <a:rPr lang="en-US" sz="3200" i="1" dirty="0">
                <a:ln w="12700">
                  <a:solidFill>
                    <a:srgbClr val="1181C3"/>
                  </a:solidFill>
                </a:ln>
                <a:solidFill>
                  <a:srgbClr val="1181C3"/>
                </a:solidFill>
                <a:latin typeface="Bahnschrift SemiCondensed"/>
                <a:cs typeface="Aharoni"/>
              </a:rPr>
              <a:t> </a:t>
            </a:r>
            <a:r>
              <a:rPr lang="en-US" sz="3200" i="1" dirty="0" err="1">
                <a:ln w="12700">
                  <a:solidFill>
                    <a:srgbClr val="1181C3"/>
                  </a:solidFill>
                </a:ln>
                <a:solidFill>
                  <a:srgbClr val="1181C3"/>
                </a:solidFill>
                <a:latin typeface="Bahnschrift SemiCondensed"/>
                <a:cs typeface="Aharoni"/>
              </a:rPr>
              <a:t>eternas</a:t>
            </a:r>
            <a:r>
              <a:rPr lang="en-US" sz="3200" i="1" dirty="0">
                <a:ln w="12700">
                  <a:solidFill>
                    <a:srgbClr val="1181C3"/>
                  </a:solidFill>
                </a:ln>
                <a:solidFill>
                  <a:srgbClr val="1181C3"/>
                </a:solidFill>
                <a:latin typeface="Bahnschrift SemiCondensed"/>
                <a:cs typeface="Aharoni"/>
              </a:rPr>
              <a:t> para </a:t>
            </a:r>
            <a:r>
              <a:rPr lang="en-US" sz="3200" i="1" dirty="0" err="1">
                <a:ln w="12700">
                  <a:solidFill>
                    <a:srgbClr val="1181C3"/>
                  </a:solidFill>
                </a:ln>
                <a:solidFill>
                  <a:srgbClr val="1181C3"/>
                </a:solidFill>
                <a:latin typeface="Bahnschrift SemiCondensed"/>
                <a:cs typeface="Aharoni"/>
              </a:rPr>
              <a:t>comprar</a:t>
            </a:r>
            <a:r>
              <a:rPr lang="en-US" sz="3200" i="1" dirty="0">
                <a:ln w="12700">
                  <a:solidFill>
                    <a:srgbClr val="1181C3"/>
                  </a:solidFill>
                </a:ln>
                <a:solidFill>
                  <a:srgbClr val="1181C3"/>
                </a:solidFill>
                <a:latin typeface="Bahnschrift SemiCondensed"/>
                <a:cs typeface="Aharoni"/>
              </a:rPr>
              <a:t> </a:t>
            </a:r>
            <a:r>
              <a:rPr lang="en-US" sz="3200" i="1" dirty="0" err="1">
                <a:ln w="12700">
                  <a:solidFill>
                    <a:srgbClr val="1181C3"/>
                  </a:solidFill>
                </a:ln>
                <a:solidFill>
                  <a:srgbClr val="1181C3"/>
                </a:solidFill>
                <a:latin typeface="Bahnschrift SemiCondensed"/>
                <a:cs typeface="Aharoni"/>
              </a:rPr>
              <a:t>boletos</a:t>
            </a:r>
            <a:r>
              <a:rPr lang="en-US" sz="3200" i="1" dirty="0">
                <a:ln w="12700">
                  <a:solidFill>
                    <a:srgbClr val="1181C3"/>
                  </a:solidFill>
                </a:ln>
                <a:solidFill>
                  <a:srgbClr val="1181C3"/>
                </a:solidFill>
                <a:latin typeface="Bahnschrift SemiCondensed"/>
                <a:cs typeface="Aharoni"/>
              </a:rPr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245F74-2EAE-15F4-30FF-86CDCB3099C9}"/>
              </a:ext>
            </a:extLst>
          </p:cNvPr>
          <p:cNvSpPr txBox="1"/>
          <p:nvPr/>
        </p:nvSpPr>
        <p:spPr>
          <a:xfrm>
            <a:off x="11472000" y="6273224"/>
            <a:ext cx="710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ln w="12700">
                  <a:noFill/>
                </a:ln>
                <a:solidFill>
                  <a:schemeClr val="bg1"/>
                </a:solidFill>
                <a:latin typeface="Bahnschrift SemiBold Condensed" panose="020B0502040204020203" pitchFamily="34" charset="0"/>
                <a:cs typeface="Aharoni" panose="02010803020104030203" pitchFamily="2" charset="-79"/>
              </a:rPr>
              <a:t>1</a:t>
            </a:r>
            <a:endParaRPr lang="es-MX" sz="3200">
              <a:ln w="12700">
                <a:noFill/>
              </a:ln>
              <a:solidFill>
                <a:schemeClr val="bg1"/>
              </a:solidFill>
              <a:latin typeface="Bahnschrift SemiBold Condensed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17236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DAE8E-8EF8-9ECD-A87A-E4F84F3F0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2A9E1A-F63E-0EB5-4A52-8836B0D5EFCB}"/>
              </a:ext>
            </a:extLst>
          </p:cNvPr>
          <p:cNvSpPr/>
          <p:nvPr/>
        </p:nvSpPr>
        <p:spPr>
          <a:xfrm>
            <a:off x="10752000" y="0"/>
            <a:ext cx="1440000" cy="6858000"/>
          </a:xfrm>
          <a:prstGeom prst="rect">
            <a:avLst/>
          </a:prstGeom>
          <a:solidFill>
            <a:srgbClr val="ED72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D45CF8-1525-2865-5F27-B7E6190DCB9F}"/>
              </a:ext>
            </a:extLst>
          </p:cNvPr>
          <p:cNvSpPr/>
          <p:nvPr/>
        </p:nvSpPr>
        <p:spPr>
          <a:xfrm rot="5400000" flipH="1">
            <a:off x="5376000" y="-5376001"/>
            <a:ext cx="1440000" cy="12192000"/>
          </a:xfrm>
          <a:prstGeom prst="rect">
            <a:avLst/>
          </a:prstGeom>
          <a:solidFill>
            <a:srgbClr val="1181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4750404-B818-A54F-6BA1-115FEA242B78}"/>
              </a:ext>
            </a:extLst>
          </p:cNvPr>
          <p:cNvSpPr/>
          <p:nvPr/>
        </p:nvSpPr>
        <p:spPr>
          <a:xfrm>
            <a:off x="10752000" y="-2"/>
            <a:ext cx="1440000" cy="1440000"/>
          </a:xfrm>
          <a:prstGeom prst="triangle">
            <a:avLst>
              <a:gd name="adj" fmla="val 100000"/>
            </a:avLst>
          </a:prstGeom>
          <a:solidFill>
            <a:srgbClr val="ED72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8224B8-5166-F342-15E6-5C3ADC4DB166}"/>
              </a:ext>
            </a:extLst>
          </p:cNvPr>
          <p:cNvSpPr/>
          <p:nvPr/>
        </p:nvSpPr>
        <p:spPr>
          <a:xfrm>
            <a:off x="0" y="0"/>
            <a:ext cx="1440000" cy="6858000"/>
          </a:xfrm>
          <a:prstGeom prst="rect">
            <a:avLst/>
          </a:prstGeom>
          <a:solidFill>
            <a:srgbClr val="ED72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BE2C60F9-8AC7-2ED2-B7E6-E1A83DCB6C8F}"/>
              </a:ext>
            </a:extLst>
          </p:cNvPr>
          <p:cNvSpPr/>
          <p:nvPr/>
        </p:nvSpPr>
        <p:spPr>
          <a:xfrm flipH="1" flipV="1">
            <a:off x="0" y="-1"/>
            <a:ext cx="2880000" cy="2880000"/>
          </a:xfrm>
          <a:prstGeom prst="triangle">
            <a:avLst>
              <a:gd name="adj" fmla="val 100000"/>
            </a:avLst>
          </a:prstGeom>
          <a:solidFill>
            <a:srgbClr val="ED72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E2434DC-11F7-56D9-E4A8-37EBADB0E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900" y="7187357"/>
            <a:ext cx="425196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Imagen:</a:t>
            </a: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 Fila en central de autobuses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Frases clave (en </a:t>
            </a:r>
            <a:r>
              <a:rPr kumimoji="0" lang="es-MX" altLang="es-MX" sz="1800" b="1" i="0" u="none" strike="noStrike" cap="none" normalizeH="0" baseline="0" err="1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bullets</a:t>
            </a:r>
            <a:r>
              <a:rPr kumimoji="0" lang="es-MX" altLang="es-MX" sz="1800" b="1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Procesos manuales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Errores en asignación de asientos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Sin historial digital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Lentitud en venta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>
              <a:ln>
                <a:noFill/>
              </a:ln>
              <a:solidFill>
                <a:srgbClr val="1181C3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40" name="Picture 16" descr="Quejas por retrasos de media hora en la línea Vitoria-Bilbao | El Correo">
            <a:extLst>
              <a:ext uri="{FF2B5EF4-FFF2-40B4-BE49-F238E27FC236}">
                <a16:creationId xmlns:a16="http://schemas.microsoft.com/office/drawing/2014/main" id="{BF306A9C-2BAB-363A-143D-17D4E38413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88"/>
          <a:stretch>
            <a:fillRect/>
          </a:stretch>
        </p:blipFill>
        <p:spPr bwMode="auto">
          <a:xfrm>
            <a:off x="1440000" y="1439998"/>
            <a:ext cx="9312000" cy="541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F8A1BF-A509-308D-7058-D8513656F2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408" b="91289" l="3059" r="93412">
                        <a14:foregroundMark x1="12941" y1="13240" x2="7529" y2="41115"/>
                        <a14:foregroundMark x1="7529" y1="41115" x2="8471" y2="58537"/>
                        <a14:foregroundMark x1="3529" y1="58537" x2="7765" y2="46341"/>
                        <a14:foregroundMark x1="14353" y1="28223" x2="18118" y2="15331"/>
                        <a14:foregroundMark x1="12706" y1="9756" x2="16941" y2="11498"/>
                        <a14:foregroundMark x1="58118" y1="71777" x2="72000" y2="77700"/>
                        <a14:foregroundMark x1="72000" y1="77700" x2="85882" y2="71429"/>
                        <a14:foregroundMark x1="85882" y1="71429" x2="90353" y2="44599"/>
                        <a14:foregroundMark x1="90353" y1="44599" x2="93176" y2="68990"/>
                        <a14:foregroundMark x1="93176" y1="68990" x2="86353" y2="50523"/>
                        <a14:foregroundMark x1="86353" y1="50523" x2="86353" y2="66202"/>
                        <a14:foregroundMark x1="80235" y1="84321" x2="87765" y2="71080"/>
                        <a14:foregroundMark x1="88706" y1="50523" x2="84000" y2="31707"/>
                        <a14:foregroundMark x1="88471" y1="28920" x2="93412" y2="42160"/>
                        <a14:foregroundMark x1="92000" y1="37282" x2="90118" y2="35540"/>
                        <a14:foregroundMark x1="89176" y1="32404" x2="81882" y2="26829"/>
                        <a14:foregroundMark x1="87529" y1="26829" x2="84000" y2="26829"/>
                        <a14:foregroundMark x1="87765" y1="24390" x2="81647" y2="25087"/>
                        <a14:foregroundMark x1="64000" y1="78049" x2="71294" y2="81533"/>
                        <a14:foregroundMark x1="70118" y1="82230" x2="62353" y2="79094"/>
                        <a14:foregroundMark x1="63765" y1="80139" x2="68471" y2="82578"/>
                        <a14:foregroundMark x1="15294" y1="91289" x2="27059" y2="87456"/>
                        <a14:foregroundMark x1="84706" y1="44251" x2="89647" y2="37979"/>
                        <a14:foregroundMark x1="89882" y1="38328" x2="90118" y2="4250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13242" y="1439997"/>
            <a:ext cx="3395784" cy="22931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85D603-195C-63FA-710D-A84F093A1B17}"/>
              </a:ext>
            </a:extLst>
          </p:cNvPr>
          <p:cNvSpPr txBox="1"/>
          <p:nvPr/>
        </p:nvSpPr>
        <p:spPr>
          <a:xfrm>
            <a:off x="2304545" y="402754"/>
            <a:ext cx="886383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US" sz="4000">
                <a:ln w="12700">
                  <a:noFill/>
                </a:ln>
                <a:solidFill>
                  <a:schemeClr val="bg1"/>
                </a:solidFill>
                <a:latin typeface="Bahnschrift SemiBold Condensed"/>
                <a:cs typeface="Aharoni"/>
              </a:rPr>
              <a:t>El problema: procesos manuales y falta de control</a:t>
            </a:r>
            <a:endParaRPr lang="es-MX" sz="4000">
              <a:ln w="12700">
                <a:noFill/>
              </a:ln>
              <a:solidFill>
                <a:schemeClr val="bg1"/>
              </a:solidFill>
              <a:latin typeface="Bahnschrift SemiBold Condensed"/>
              <a:cs typeface="Aharoni"/>
            </a:endParaRPr>
          </a:p>
        </p:txBody>
      </p:sp>
      <p:pic>
        <p:nvPicPr>
          <p:cNvPr id="5" name="Imagen 4" descr="Ícono digital profesional que representa un asiento de autobús duplicado, con dos manos reclamando el mismo asiento y un símbolo de alerta, estilo minimalista y colores sobrios.">
            <a:extLst>
              <a:ext uri="{FF2B5EF4-FFF2-40B4-BE49-F238E27FC236}">
                <a16:creationId xmlns:a16="http://schemas.microsoft.com/office/drawing/2014/main" id="{193F7D3F-E622-7FD4-73A9-9A27376351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7999" y="5454953"/>
            <a:ext cx="1112765" cy="14030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6883BA9-8BFB-5FE4-35EC-B5AF39E17C44}"/>
              </a:ext>
            </a:extLst>
          </p:cNvPr>
          <p:cNvSpPr txBox="1"/>
          <p:nvPr/>
        </p:nvSpPr>
        <p:spPr>
          <a:xfrm>
            <a:off x="11472000" y="6273224"/>
            <a:ext cx="710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ln w="12700">
                  <a:noFill/>
                </a:ln>
                <a:solidFill>
                  <a:schemeClr val="bg1"/>
                </a:solidFill>
                <a:latin typeface="Bahnschrift SemiBold Condensed" panose="020B0502040204020203" pitchFamily="34" charset="0"/>
                <a:cs typeface="Aharoni" panose="02010803020104030203" pitchFamily="2" charset="-79"/>
              </a:rPr>
              <a:t>2</a:t>
            </a:r>
            <a:endParaRPr lang="es-MX" sz="3200">
              <a:ln w="12700">
                <a:noFill/>
              </a:ln>
              <a:solidFill>
                <a:schemeClr val="bg1"/>
              </a:solidFill>
              <a:latin typeface="Bahnschrift SemiBold Condensed" panose="020B0502040204020203" pitchFamily="34" charset="0"/>
              <a:cs typeface="Aharoni" panose="02010803020104030203" pitchFamily="2" charset="-79"/>
            </a:endParaRPr>
          </a:p>
        </p:txBody>
      </p:sp>
      <p:pic>
        <p:nvPicPr>
          <p:cNvPr id="15" name="Imagen 14" descr="Ilustración profesional de un asiento de autobús marcado como vendido dos veces, mostrando un boleto duplicado y un pasajero confundido, con estilo corporativo y colores sobrios.">
            <a:extLst>
              <a:ext uri="{FF2B5EF4-FFF2-40B4-BE49-F238E27FC236}">
                <a16:creationId xmlns:a16="http://schemas.microsoft.com/office/drawing/2014/main" id="{A08E6D64-510C-27CC-7950-FECE93E133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0619" y="2590074"/>
            <a:ext cx="1415144" cy="211666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54382632"/>
      </p:ext>
    </p:extLst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3BDE7-F33B-160A-2089-C834BBA2B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424EA4-149A-A3F8-D531-6D2EED0EA642}"/>
              </a:ext>
            </a:extLst>
          </p:cNvPr>
          <p:cNvSpPr/>
          <p:nvPr/>
        </p:nvSpPr>
        <p:spPr>
          <a:xfrm>
            <a:off x="0" y="-1367"/>
            <a:ext cx="1440000" cy="1440000"/>
          </a:xfrm>
          <a:prstGeom prst="rect">
            <a:avLst/>
          </a:prstGeom>
          <a:solidFill>
            <a:srgbClr val="ED72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7FC7D78A-E36E-8F3F-6492-76DC92D2834C}"/>
              </a:ext>
            </a:extLst>
          </p:cNvPr>
          <p:cNvSpPr/>
          <p:nvPr/>
        </p:nvSpPr>
        <p:spPr>
          <a:xfrm rot="16200000">
            <a:off x="10752000" y="2878632"/>
            <a:ext cx="1440000" cy="1440000"/>
          </a:xfrm>
          <a:prstGeom prst="triangle">
            <a:avLst>
              <a:gd name="adj" fmla="val 100000"/>
            </a:avLst>
          </a:prstGeom>
          <a:solidFill>
            <a:srgbClr val="ED72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DA20F4F-4710-7FF0-1910-ED624C793AD3}"/>
              </a:ext>
            </a:extLst>
          </p:cNvPr>
          <p:cNvSpPr/>
          <p:nvPr/>
        </p:nvSpPr>
        <p:spPr>
          <a:xfrm flipH="1" flipV="1">
            <a:off x="-1" y="1438633"/>
            <a:ext cx="1439999" cy="1439999"/>
          </a:xfrm>
          <a:prstGeom prst="triangle">
            <a:avLst>
              <a:gd name="adj" fmla="val 100000"/>
            </a:avLst>
          </a:prstGeom>
          <a:solidFill>
            <a:srgbClr val="ED72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2FCC48-59AC-B930-AC19-D43286E5CF69}"/>
              </a:ext>
            </a:extLst>
          </p:cNvPr>
          <p:cNvSpPr/>
          <p:nvPr/>
        </p:nvSpPr>
        <p:spPr>
          <a:xfrm>
            <a:off x="10752000" y="0"/>
            <a:ext cx="1440000" cy="2880000"/>
          </a:xfrm>
          <a:prstGeom prst="rect">
            <a:avLst/>
          </a:prstGeom>
          <a:solidFill>
            <a:srgbClr val="ED72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67CEEC61-1660-5E4F-F017-996FD88CF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061597"/>
            <a:ext cx="595884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/>
                <a:cs typeface="Arial"/>
              </a:rPr>
              <a:t>Nombre del sistema:</a:t>
            </a: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/>
                <a:cs typeface="Arial"/>
              </a:rPr>
              <a:t> Rutas Baja Express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/>
                <a:cs typeface="Arial"/>
              </a:rPr>
              <a:t>Lista breve de funcionalidades:</a:t>
            </a: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/>
                <a:cs typeface="Arial"/>
              </a:rPr>
              <a:t> </a:t>
            </a:r>
            <a:endParaRPr lang="es-MX" altLang="es-MX" sz="1800" b="0" i="0" u="none" strike="noStrike" cap="none" normalizeH="0" baseline="0">
              <a:ln>
                <a:noFill/>
              </a:ln>
              <a:solidFill>
                <a:srgbClr val="1181C3"/>
              </a:solidFill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/>
                <a:cs typeface="Arial"/>
              </a:rPr>
              <a:t>Gestión de usuarios </a:t>
            </a:r>
            <a:endParaRPr lang="es-MX" altLang="es-MX" sz="1800" b="0" i="0" u="none" strike="noStrike" cap="none" normalizeH="0" baseline="0">
              <a:ln>
                <a:noFill/>
              </a:ln>
              <a:solidFill>
                <a:srgbClr val="1181C3"/>
              </a:solidFill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/>
                <a:cs typeface="Arial"/>
              </a:rPr>
              <a:t>Venta de boletos con selección de asiento </a:t>
            </a:r>
            <a:endParaRPr lang="es-MX" altLang="es-MX" sz="1800" b="0" i="0" u="none" strike="noStrike" cap="none" normalizeH="0" baseline="0">
              <a:ln>
                <a:noFill/>
              </a:ln>
              <a:solidFill>
                <a:srgbClr val="1181C3"/>
              </a:solidFill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/>
                <a:cs typeface="Arial"/>
              </a:rPr>
              <a:t>Disponibilidad en tiempo real </a:t>
            </a:r>
            <a:endParaRPr lang="es-MX" altLang="es-MX" sz="1800" b="0" i="0" u="none" strike="noStrike" cap="none" normalizeH="0" baseline="0">
              <a:ln>
                <a:noFill/>
              </a:ln>
              <a:solidFill>
                <a:srgbClr val="1181C3"/>
              </a:solidFill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/>
                <a:cs typeface="Arial"/>
              </a:rPr>
              <a:t>Generación de boletos </a:t>
            </a:r>
            <a:endParaRPr lang="es-MX" altLang="es-MX" sz="1800" b="0" i="0" u="none" strike="noStrike" cap="none" normalizeH="0" baseline="0">
              <a:ln>
                <a:noFill/>
              </a:ln>
              <a:solidFill>
                <a:srgbClr val="1181C3"/>
              </a:solidFill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/>
                <a:cs typeface="Arial"/>
              </a:rPr>
              <a:t>Visual:</a:t>
            </a: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/>
                <a:cs typeface="Arial"/>
              </a:rPr>
              <a:t> Ícono o mockup del prototipo </a:t>
            </a:r>
            <a:endParaRPr lang="es-MX" altLang="es-MX" sz="1800" b="0" i="0" u="none" strike="noStrike" cap="none" normalizeH="0" baseline="0">
              <a:ln>
                <a:noFill/>
              </a:ln>
              <a:solidFill>
                <a:srgbClr val="1181C3"/>
              </a:solidFill>
              <a:effectLst/>
              <a:latin typeface="Arial"/>
              <a:cs typeface="Arial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MX" altLang="es-MX" sz="1800" b="1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/>
                <a:cs typeface="Arial"/>
              </a:rPr>
              <a:t>Frase </a:t>
            </a:r>
            <a:r>
              <a:rPr lang="es-MX" altLang="es-MX" b="1">
                <a:solidFill>
                  <a:srgbClr val="1181C3"/>
                </a:solidFill>
                <a:latin typeface="Arial"/>
                <a:cs typeface="Arial"/>
              </a:rPr>
              <a:t>clave:</a:t>
            </a:r>
            <a:br>
              <a:rPr lang="es-MX" altLang="es-MX">
                <a:latin typeface="Arial"/>
              </a:rPr>
            </a:br>
            <a:r>
              <a:rPr lang="es-MX" altLang="es-MX" i="1">
                <a:solidFill>
                  <a:srgbClr val="1181C3"/>
                </a:solidFill>
                <a:latin typeface="Arial"/>
                <a:cs typeface="Arial"/>
              </a:rPr>
              <a:t>“De manual a digital, de lento a eficiente.”</a:t>
            </a:r>
            <a:r>
              <a:rPr lang="es-MX" altLang="es-MX">
                <a:solidFill>
                  <a:srgbClr val="1181C3"/>
                </a:solidFill>
                <a:latin typeface="Arial"/>
                <a:cs typeface="Arial"/>
              </a:rPr>
              <a:t> </a:t>
            </a:r>
            <a:endParaRPr lang="es-MX" altLang="es-MX" sz="1800" b="0" i="0" u="none" strike="noStrike" cap="none" normalizeH="0" baseline="0">
              <a:ln>
                <a:noFill/>
              </a:ln>
              <a:solidFill>
                <a:srgbClr val="1181C3"/>
              </a:solidFill>
              <a:effectLst/>
              <a:latin typeface="Arial" panose="020B0604020202020204" pitchFamily="34" charset="0"/>
              <a:cs typeface="Arial"/>
            </a:endParaRPr>
          </a:p>
        </p:txBody>
      </p:sp>
      <p:pic>
        <p:nvPicPr>
          <p:cNvPr id="98" name="Picture 97" descr="A blue and orange bus login screen&#10;&#10;AI-generated content may be incorrect.">
            <a:extLst>
              <a:ext uri="{FF2B5EF4-FFF2-40B4-BE49-F238E27FC236}">
                <a16:creationId xmlns:a16="http://schemas.microsoft.com/office/drawing/2014/main" id="{6707D405-6281-AFD8-D540-B214D38408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46" t="3742" r="8892"/>
          <a:stretch>
            <a:fillRect/>
          </a:stretch>
        </p:blipFill>
        <p:spPr>
          <a:xfrm>
            <a:off x="383223" y="1165334"/>
            <a:ext cx="4381678" cy="5603789"/>
          </a:xfrm>
          <a:prstGeom prst="rect">
            <a:avLst/>
          </a:prstGeom>
        </p:spPr>
      </p:pic>
      <p:pic>
        <p:nvPicPr>
          <p:cNvPr id="104" name="Picture 103" descr="A screenshot of a login&#10;&#10;AI-generated content may be incorrect.">
            <a:extLst>
              <a:ext uri="{FF2B5EF4-FFF2-40B4-BE49-F238E27FC236}">
                <a16:creationId xmlns:a16="http://schemas.microsoft.com/office/drawing/2014/main" id="{62AD29FF-3B12-6CFA-ABC8-BB8EEF9F96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8099" y="1165334"/>
            <a:ext cx="6810678" cy="2945618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196B7C6A-153E-5200-591F-22F72BBDC092}"/>
              </a:ext>
            </a:extLst>
          </p:cNvPr>
          <p:cNvSpPr txBox="1"/>
          <p:nvPr/>
        </p:nvSpPr>
        <p:spPr>
          <a:xfrm>
            <a:off x="5148123" y="4236121"/>
            <a:ext cx="4933425" cy="1446550"/>
          </a:xfrm>
          <a:prstGeom prst="rect">
            <a:avLst/>
          </a:prstGeom>
          <a:solidFill>
            <a:srgbClr val="1181C3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Bahnschrift SemiCondensed" panose="020B0502040204020203" pitchFamily="34" charset="0"/>
              </a:rPr>
              <a:t>Gestión de usuarios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Bahnschrift SemiCondensed" panose="020B0502040204020203" pitchFamily="34" charset="0"/>
              </a:rPr>
              <a:t>Venta de boletos con selección de asiento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Bahnschrift SemiCondensed" panose="020B0502040204020203" pitchFamily="34" charset="0"/>
              </a:rPr>
              <a:t>Disponibilidad en tiempo real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Bahnschrift SemiCondensed" panose="020B0502040204020203" pitchFamily="34" charset="0"/>
              </a:rPr>
              <a:t>Generación de boletos 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91F81C2-0665-F88D-4C27-DC95DD89A143}"/>
              </a:ext>
            </a:extLst>
          </p:cNvPr>
          <p:cNvSpPr txBox="1"/>
          <p:nvPr/>
        </p:nvSpPr>
        <p:spPr>
          <a:xfrm>
            <a:off x="11472000" y="6273224"/>
            <a:ext cx="710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ln w="12700">
                  <a:noFill/>
                </a:ln>
                <a:latin typeface="Bahnschrift SemiBold Condensed" panose="020B0502040204020203" pitchFamily="34" charset="0"/>
                <a:cs typeface="Aharoni" panose="02010803020104030203" pitchFamily="2" charset="-79"/>
              </a:rPr>
              <a:t>3</a:t>
            </a:r>
            <a:endParaRPr lang="es-MX" sz="3200">
              <a:ln w="12700">
                <a:noFill/>
              </a:ln>
              <a:latin typeface="Bahnschrift SemiBold Condensed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DF515BB-D001-CBD7-668F-DDA0F10A2B00}"/>
              </a:ext>
            </a:extLst>
          </p:cNvPr>
          <p:cNvSpPr txBox="1"/>
          <p:nvPr/>
        </p:nvSpPr>
        <p:spPr>
          <a:xfrm>
            <a:off x="3645245" y="299116"/>
            <a:ext cx="490237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US" sz="4800" dirty="0">
                <a:ln w="12700">
                  <a:noFill/>
                </a:ln>
                <a:solidFill>
                  <a:srgbClr val="ED7237"/>
                </a:solidFill>
                <a:latin typeface="Bahnschrift SemiBold Condensed"/>
                <a:cs typeface="Aharoni"/>
              </a:rPr>
              <a:t>Solución y Funciones</a:t>
            </a:r>
            <a:endParaRPr lang="es-MX" sz="4800">
              <a:ln w="12700">
                <a:noFill/>
              </a:ln>
              <a:solidFill>
                <a:srgbClr val="ED7237"/>
              </a:solidFill>
              <a:latin typeface="Bahnschrift SemiBold Condensed"/>
              <a:cs typeface="Aharoni"/>
            </a:endParaRPr>
          </a:p>
        </p:txBody>
      </p:sp>
      <p:sp>
        <p:nvSpPr>
          <p:cNvPr id="13" name="TextBox 107">
            <a:extLst>
              <a:ext uri="{FF2B5EF4-FFF2-40B4-BE49-F238E27FC236}">
                <a16:creationId xmlns:a16="http://schemas.microsoft.com/office/drawing/2014/main" id="{64AF169E-2FAF-F697-4EF1-46B1C5E1E238}"/>
              </a:ext>
            </a:extLst>
          </p:cNvPr>
          <p:cNvSpPr txBox="1"/>
          <p:nvPr/>
        </p:nvSpPr>
        <p:spPr>
          <a:xfrm>
            <a:off x="5949501" y="5774606"/>
            <a:ext cx="3289145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US" sz="3200" i="1">
                <a:ln w="12700">
                  <a:noFill/>
                </a:ln>
                <a:solidFill>
                  <a:srgbClr val="1181C3"/>
                </a:solidFill>
                <a:latin typeface="Bahnschrift SemiBold Condensed"/>
                <a:ea typeface="+mn-lt"/>
                <a:cs typeface="+mn-lt"/>
              </a:rPr>
              <a:t>"De manual a digital. De lento a eficiente."</a:t>
            </a:r>
            <a:endParaRPr lang="es-ES" sz="3200" i="1">
              <a:solidFill>
                <a:srgbClr val="1181C3"/>
              </a:solidFill>
              <a:latin typeface="Bahnschrift SemiBold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5392080"/>
      </p:ext>
    </p:extLst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9EEB9-A587-DB5D-4DF4-1828363C4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B3DE22-589C-C17F-3951-4967AF91E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52" y="326067"/>
            <a:ext cx="6096000" cy="262477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E7195FB-DCA3-2588-1AE0-82C425EE9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248" y="7173687"/>
            <a:ext cx="422148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/>
                <a:cs typeface="Arial"/>
              </a:rPr>
              <a:t>3–4 capturas de pantalla:</a:t>
            </a: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/>
                <a:cs typeface="Arial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/>
                <a:cs typeface="Arial"/>
              </a:rPr>
              <a:t>Inicio de sesión </a:t>
            </a:r>
            <a:endParaRPr lang="es-MX" altLang="es-MX" sz="1800" b="0" i="0" u="none" strike="noStrike" cap="none" normalizeH="0" baseline="0">
              <a:ln>
                <a:noFill/>
              </a:ln>
              <a:solidFill>
                <a:srgbClr val="1181C3"/>
              </a:solidFill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/>
                <a:cs typeface="Arial"/>
              </a:rPr>
              <a:t>Menú principal </a:t>
            </a:r>
            <a:endParaRPr lang="es-MX" altLang="es-MX" sz="1800" b="0" i="0" u="none" strike="noStrike" cap="none" normalizeH="0" baseline="0">
              <a:ln>
                <a:noFill/>
              </a:ln>
              <a:solidFill>
                <a:srgbClr val="1181C3"/>
              </a:solidFill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/>
                <a:cs typeface="Arial"/>
              </a:rPr>
              <a:t>Venta de boletos (asientos) </a:t>
            </a:r>
            <a:endParaRPr lang="es-MX" altLang="es-MX" sz="1800" b="0" i="0" u="none" strike="noStrike" cap="none" normalizeH="0" baseline="0">
              <a:ln>
                <a:noFill/>
              </a:ln>
              <a:solidFill>
                <a:srgbClr val="1181C3"/>
              </a:solidFill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/>
                <a:cs typeface="Arial"/>
              </a:rPr>
              <a:t>Boleto PDF</a:t>
            </a:r>
            <a:endParaRPr lang="es-MX" altLang="es-MX" sz="1800" b="0" i="0" u="none" strike="noStrike" cap="none" normalizeH="0" baseline="0">
              <a:ln>
                <a:noFill/>
              </a:ln>
              <a:solidFill>
                <a:srgbClr val="1181C3"/>
              </a:solidFill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/>
                <a:cs typeface="Arial"/>
              </a:rPr>
              <a:t>Opcional:</a:t>
            </a: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/>
                <a:cs typeface="Arial"/>
              </a:rPr>
              <a:t> GIF mostrando flujo rápido </a:t>
            </a:r>
            <a:endParaRPr lang="es-MX" altLang="es-MX" sz="1800" b="0" i="0" u="none" strike="noStrike" cap="none" normalizeH="0" baseline="0">
              <a:ln>
                <a:noFill/>
              </a:ln>
              <a:solidFill>
                <a:srgbClr val="1181C3"/>
              </a:solidFill>
              <a:effectLst/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0A4EF0-6B62-6637-5F75-B69F3D8A4D64}"/>
              </a:ext>
            </a:extLst>
          </p:cNvPr>
          <p:cNvSpPr/>
          <p:nvPr/>
        </p:nvSpPr>
        <p:spPr>
          <a:xfrm flipV="1">
            <a:off x="0" y="5418000"/>
            <a:ext cx="1440000" cy="1440000"/>
          </a:xfrm>
          <a:prstGeom prst="rect">
            <a:avLst/>
          </a:prstGeom>
          <a:solidFill>
            <a:srgbClr val="1181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340A16B1-0BCA-7941-6FF6-F1D9DBF1796A}"/>
              </a:ext>
            </a:extLst>
          </p:cNvPr>
          <p:cNvSpPr/>
          <p:nvPr/>
        </p:nvSpPr>
        <p:spPr>
          <a:xfrm rot="5400000" flipV="1">
            <a:off x="10752000" y="2559313"/>
            <a:ext cx="1440000" cy="1440000"/>
          </a:xfrm>
          <a:prstGeom prst="triangle">
            <a:avLst>
              <a:gd name="adj" fmla="val 100000"/>
            </a:avLst>
          </a:prstGeom>
          <a:solidFill>
            <a:srgbClr val="1181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E8FE1AA1-9E8F-72A3-C2A1-55693BB1FB79}"/>
              </a:ext>
            </a:extLst>
          </p:cNvPr>
          <p:cNvSpPr/>
          <p:nvPr/>
        </p:nvSpPr>
        <p:spPr>
          <a:xfrm flipH="1">
            <a:off x="0" y="3978001"/>
            <a:ext cx="1439999" cy="1439999"/>
          </a:xfrm>
          <a:prstGeom prst="triangle">
            <a:avLst>
              <a:gd name="adj" fmla="val 100000"/>
            </a:avLst>
          </a:prstGeom>
          <a:solidFill>
            <a:srgbClr val="1181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580E8E-1952-6BC9-1895-541B33A142D3}"/>
              </a:ext>
            </a:extLst>
          </p:cNvPr>
          <p:cNvSpPr/>
          <p:nvPr/>
        </p:nvSpPr>
        <p:spPr>
          <a:xfrm flipV="1">
            <a:off x="10752000" y="3999313"/>
            <a:ext cx="1440000" cy="2880000"/>
          </a:xfrm>
          <a:prstGeom prst="rect">
            <a:avLst/>
          </a:prstGeom>
          <a:solidFill>
            <a:srgbClr val="1181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680998-1AD9-C202-9FE2-98B17169A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750" y="1105054"/>
            <a:ext cx="3537808" cy="36923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8F361D-223B-4E7F-7597-F0938E06C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8166" y="3279313"/>
            <a:ext cx="5261317" cy="33237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D85B1C-228A-5CCF-1CF3-5538494D93CB}"/>
              </a:ext>
            </a:extLst>
          </p:cNvPr>
          <p:cNvSpPr txBox="1"/>
          <p:nvPr/>
        </p:nvSpPr>
        <p:spPr>
          <a:xfrm>
            <a:off x="716064" y="327014"/>
            <a:ext cx="374556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US" sz="4800" dirty="0">
                <a:ln w="12700">
                  <a:noFill/>
                </a:ln>
                <a:solidFill>
                  <a:srgbClr val="ED7237"/>
                </a:solidFill>
                <a:latin typeface="Bahnschrift SemiBold Condensed"/>
                <a:cs typeface="Aharoni"/>
              </a:rPr>
              <a:t>Funcionamiento</a:t>
            </a:r>
            <a:endParaRPr lang="es-MX" sz="4800" dirty="0">
              <a:ln w="12700">
                <a:noFill/>
              </a:ln>
              <a:solidFill>
                <a:srgbClr val="ED7237"/>
              </a:solidFill>
              <a:latin typeface="Bahnschrift SemiBold Condensed"/>
              <a:cs typeface="Aharon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00746D-D7A9-9F81-02E6-930433AEA892}"/>
              </a:ext>
            </a:extLst>
          </p:cNvPr>
          <p:cNvSpPr txBox="1"/>
          <p:nvPr/>
        </p:nvSpPr>
        <p:spPr>
          <a:xfrm>
            <a:off x="11472000" y="6273224"/>
            <a:ext cx="710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ln w="12700">
                  <a:noFill/>
                </a:ln>
                <a:solidFill>
                  <a:schemeClr val="bg1"/>
                </a:solidFill>
                <a:latin typeface="Bahnschrift SemiBold Condensed" panose="020B0502040204020203" pitchFamily="34" charset="0"/>
                <a:cs typeface="Aharoni" panose="02010803020104030203" pitchFamily="2" charset="-79"/>
              </a:rPr>
              <a:t>4</a:t>
            </a:r>
            <a:endParaRPr lang="es-MX" sz="3200">
              <a:ln w="12700">
                <a:noFill/>
              </a:ln>
              <a:solidFill>
                <a:schemeClr val="bg1"/>
              </a:solidFill>
              <a:latin typeface="Bahnschrift SemiBold Condensed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76967477"/>
      </p:ext>
    </p:extLst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B2374A-A89B-F0FC-A681-6C620CFAA418}"/>
              </a:ext>
            </a:extLst>
          </p:cNvPr>
          <p:cNvSpPr/>
          <p:nvPr/>
        </p:nvSpPr>
        <p:spPr>
          <a:xfrm rot="16200000" flipH="1" flipV="1">
            <a:off x="5376000" y="41998"/>
            <a:ext cx="1440000" cy="12192000"/>
          </a:xfrm>
          <a:prstGeom prst="rect">
            <a:avLst/>
          </a:prstGeom>
          <a:solidFill>
            <a:srgbClr val="ED72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94CDD8-A1BE-7707-6FB0-F4CD7005C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858000"/>
            <a:ext cx="722376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5 beneficios clave:</a:t>
            </a: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Reduce tiempos de espera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Evita errores humanos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Control total para la empresa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Facilita auditorías y reportes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Mejora experiencia del pasajero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Visual:</a:t>
            </a: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 Representación de usuarios (taquillero, empresa, pasajero)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Opcional:</a:t>
            </a: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 Mini gráfico de impacto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1D733F-C342-C7DE-13A9-0D51BA7277D4}"/>
              </a:ext>
            </a:extLst>
          </p:cNvPr>
          <p:cNvSpPr/>
          <p:nvPr/>
        </p:nvSpPr>
        <p:spPr>
          <a:xfrm flipV="1">
            <a:off x="10752000" y="-2"/>
            <a:ext cx="1440000" cy="6858000"/>
          </a:xfrm>
          <a:prstGeom prst="rect">
            <a:avLst/>
          </a:prstGeom>
          <a:solidFill>
            <a:srgbClr val="1181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126964EE-775D-AA85-BCE6-157E515F0B3D}"/>
              </a:ext>
            </a:extLst>
          </p:cNvPr>
          <p:cNvSpPr/>
          <p:nvPr/>
        </p:nvSpPr>
        <p:spPr>
          <a:xfrm rot="10800000" flipV="1">
            <a:off x="10752000" y="5418000"/>
            <a:ext cx="1440000" cy="1440000"/>
          </a:xfrm>
          <a:prstGeom prst="triangle">
            <a:avLst>
              <a:gd name="adj" fmla="val 100000"/>
            </a:avLst>
          </a:prstGeom>
          <a:solidFill>
            <a:srgbClr val="ED72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E45C08-F599-8CCC-7B08-0A990E1274F7}"/>
              </a:ext>
            </a:extLst>
          </p:cNvPr>
          <p:cNvSpPr/>
          <p:nvPr/>
        </p:nvSpPr>
        <p:spPr>
          <a:xfrm flipV="1">
            <a:off x="0" y="-2"/>
            <a:ext cx="1440000" cy="6858000"/>
          </a:xfrm>
          <a:prstGeom prst="rect">
            <a:avLst/>
          </a:prstGeom>
          <a:solidFill>
            <a:srgbClr val="1181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FD799746-FA25-9CB9-190D-048A12F686BB}"/>
              </a:ext>
            </a:extLst>
          </p:cNvPr>
          <p:cNvSpPr/>
          <p:nvPr/>
        </p:nvSpPr>
        <p:spPr>
          <a:xfrm flipH="1">
            <a:off x="0" y="3977999"/>
            <a:ext cx="2880000" cy="2880000"/>
          </a:xfrm>
          <a:prstGeom prst="triangle">
            <a:avLst>
              <a:gd name="adj" fmla="val 100000"/>
            </a:avLst>
          </a:prstGeom>
          <a:solidFill>
            <a:srgbClr val="1181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E05F5D-FF4D-880C-1C7F-A7E5E03D4F1A}"/>
              </a:ext>
            </a:extLst>
          </p:cNvPr>
          <p:cNvGrpSpPr/>
          <p:nvPr/>
        </p:nvGrpSpPr>
        <p:grpSpPr>
          <a:xfrm>
            <a:off x="1594676" y="1377002"/>
            <a:ext cx="4813564" cy="3403343"/>
            <a:chOff x="1622881" y="1249680"/>
            <a:chExt cx="5600879" cy="3960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F6E45E6-D432-D087-4B8A-F94C65325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22881" y="1249680"/>
              <a:ext cx="3960000" cy="39600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0699306-2BAA-7E26-076A-97CF6232E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736" r="19109"/>
            <a:stretch>
              <a:fillRect/>
            </a:stretch>
          </p:blipFill>
          <p:spPr>
            <a:xfrm>
              <a:off x="5582881" y="1249680"/>
              <a:ext cx="1640879" cy="3960000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58406656-8F42-71AD-F288-BDC84E835538}"/>
              </a:ext>
            </a:extLst>
          </p:cNvPr>
          <p:cNvSpPr txBox="1"/>
          <p:nvPr/>
        </p:nvSpPr>
        <p:spPr>
          <a:xfrm>
            <a:off x="6693118" y="2263065"/>
            <a:ext cx="3763042" cy="1631216"/>
          </a:xfrm>
          <a:prstGeom prst="rect">
            <a:avLst/>
          </a:prstGeom>
          <a:solidFill>
            <a:srgbClr val="1181C3"/>
          </a:solidFill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 SemiCondensed" panose="020B0502040204020203" pitchFamily="34" charset="0"/>
              </a:rPr>
              <a:t>Reduce tiempos de espera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 SemiCondensed" panose="020B0502040204020203" pitchFamily="34" charset="0"/>
              </a:rPr>
              <a:t>Evita errores humanos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 SemiCondensed" panose="020B0502040204020203" pitchFamily="34" charset="0"/>
              </a:rPr>
              <a:t>Control total para la empresa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 SemiCondensed" panose="020B0502040204020203" pitchFamily="34" charset="0"/>
              </a:rPr>
              <a:t>Facilita auditorías y reportes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2000" dirty="0">
                <a:solidFill>
                  <a:schemeClr val="bg1"/>
                </a:solidFill>
                <a:latin typeface="Bahnschrift SemiCondensed"/>
              </a:rPr>
              <a:t>Mejorar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 SemiCondensed"/>
              </a:rPr>
              <a:t> la experiencia del pasajero </a:t>
            </a:r>
            <a:endParaRPr lang="es-MX" altLang="es-MX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Bahnschrift SemiCondense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B375D7-24A6-FD9B-2C9E-8C7B2FF5517C}"/>
              </a:ext>
            </a:extLst>
          </p:cNvPr>
          <p:cNvSpPr txBox="1"/>
          <p:nvPr/>
        </p:nvSpPr>
        <p:spPr>
          <a:xfrm>
            <a:off x="3754097" y="261201"/>
            <a:ext cx="4683806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US" sz="4000">
                <a:ln w="12700">
                  <a:noFill/>
                </a:ln>
                <a:solidFill>
                  <a:srgbClr val="ED7237"/>
                </a:solidFill>
                <a:latin typeface="Bahnschrift SemiBold Condensed"/>
                <a:cs typeface="Aharoni"/>
              </a:rPr>
              <a:t>Beneficios principales</a:t>
            </a:r>
            <a:endParaRPr lang="es-MX" sz="4000">
              <a:ln w="12700">
                <a:noFill/>
              </a:ln>
              <a:solidFill>
                <a:srgbClr val="ED7237"/>
              </a:solidFill>
              <a:latin typeface="Bahnschrift SemiBold Condensed"/>
              <a:cs typeface="Aharon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292A15-5F7B-8233-D060-B9CEE600C39D}"/>
              </a:ext>
            </a:extLst>
          </p:cNvPr>
          <p:cNvSpPr txBox="1"/>
          <p:nvPr/>
        </p:nvSpPr>
        <p:spPr>
          <a:xfrm>
            <a:off x="11472000" y="6273224"/>
            <a:ext cx="710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ln w="12700">
                  <a:noFill/>
                </a:ln>
                <a:solidFill>
                  <a:schemeClr val="bg1"/>
                </a:solidFill>
                <a:latin typeface="Bahnschrift SemiBold Condensed" panose="020B0502040204020203" pitchFamily="34" charset="0"/>
                <a:cs typeface="Aharoni" panose="02010803020104030203" pitchFamily="2" charset="-79"/>
              </a:rPr>
              <a:t>5</a:t>
            </a:r>
            <a:endParaRPr lang="es-MX" sz="3200">
              <a:ln w="12700">
                <a:noFill/>
              </a:ln>
              <a:solidFill>
                <a:schemeClr val="bg1"/>
              </a:solidFill>
              <a:latin typeface="Bahnschrift SemiBold Condensed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96111354"/>
      </p:ext>
    </p:extLst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F5BE3-265E-7B01-B6B2-5D9B31C7E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AAC01B-8B59-8176-2B37-602E01CD6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995160"/>
            <a:ext cx="438912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Texto:</a:t>
            </a: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 Agradecimiento + mensaje final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Visual:</a:t>
            </a: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 QR con contacto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Frase:</a:t>
            </a:r>
            <a:b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</a:br>
            <a:r>
              <a:rPr kumimoji="0" lang="es-MX" altLang="es-MX" sz="1800" b="0" i="1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“Gracias”</a:t>
            </a: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1181C3"/>
                </a:solidFill>
                <a:effectLst/>
                <a:latin typeface="Arial" panose="020B0604020202020204" pitchFamily="34" charset="0"/>
              </a:rPr>
              <a:t> en grande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B4E9C2-6A68-2F1B-CAC1-FC68B76E0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935" y="2552748"/>
            <a:ext cx="1716130" cy="17415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ED39A1-CEA7-4C51-FF09-D31DE37EFBC8}"/>
              </a:ext>
            </a:extLst>
          </p:cNvPr>
          <p:cNvSpPr txBox="1"/>
          <p:nvPr/>
        </p:nvSpPr>
        <p:spPr>
          <a:xfrm>
            <a:off x="1761567" y="4151358"/>
            <a:ext cx="22368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4000">
                <a:ln w="12700">
                  <a:noFill/>
                </a:ln>
                <a:latin typeface="Bahnschrift SemiBold Condensed" panose="020B0502040204020203" pitchFamily="34" charset="0"/>
                <a:cs typeface="Aharoni" panose="02010803020104030203" pitchFamily="2" charset="-79"/>
              </a:rPr>
              <a:t>Instagram</a:t>
            </a:r>
            <a:endParaRPr lang="es-MX" sz="4000">
              <a:ln w="12700">
                <a:noFill/>
              </a:ln>
              <a:latin typeface="Bahnschrift SemiBold Condensed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057D8E-1E79-A5C4-692E-351E70E2F740}"/>
              </a:ext>
            </a:extLst>
          </p:cNvPr>
          <p:cNvSpPr txBox="1"/>
          <p:nvPr/>
        </p:nvSpPr>
        <p:spPr>
          <a:xfrm>
            <a:off x="8453935" y="4151358"/>
            <a:ext cx="1716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4000">
                <a:ln w="12700">
                  <a:noFill/>
                </a:ln>
                <a:latin typeface="Bahnschrift SemiBold Condensed" panose="020B0502040204020203" pitchFamily="34" charset="0"/>
                <a:cs typeface="Aharoni" panose="02010803020104030203" pitchFamily="2" charset="-79"/>
              </a:rPr>
              <a:t>GitHub</a:t>
            </a:r>
            <a:endParaRPr lang="es-MX" sz="4000">
              <a:ln w="12700">
                <a:noFill/>
              </a:ln>
              <a:latin typeface="Bahnschrift SemiBold Condensed" panose="020B0502040204020203" pitchFamily="34" charset="0"/>
              <a:cs typeface="Aharoni" panose="02010803020104030203" pitchFamily="2" charset="-79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C93C510-A878-8967-B4FF-7F2E03D0A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935" y="2552748"/>
            <a:ext cx="1716130" cy="174434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E81B101-DB69-6E87-0A0D-3B68733C289A}"/>
              </a:ext>
            </a:extLst>
          </p:cNvPr>
          <p:cNvSpPr/>
          <p:nvPr/>
        </p:nvSpPr>
        <p:spPr>
          <a:xfrm flipH="1">
            <a:off x="10752000" y="-1"/>
            <a:ext cx="1440000" cy="6858000"/>
          </a:xfrm>
          <a:prstGeom prst="rect">
            <a:avLst/>
          </a:prstGeom>
          <a:solidFill>
            <a:srgbClr val="ED72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B76C23B0-859E-7645-2E8B-3DC89ABD1B44}"/>
              </a:ext>
            </a:extLst>
          </p:cNvPr>
          <p:cNvSpPr/>
          <p:nvPr/>
        </p:nvSpPr>
        <p:spPr>
          <a:xfrm>
            <a:off x="9312000" y="3977999"/>
            <a:ext cx="2880000" cy="2880000"/>
          </a:xfrm>
          <a:prstGeom prst="triangle">
            <a:avLst>
              <a:gd name="adj" fmla="val 100000"/>
            </a:avLst>
          </a:prstGeom>
          <a:solidFill>
            <a:srgbClr val="ED72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29F96216-019D-BA25-94D4-C43FB8374C72}"/>
              </a:ext>
            </a:extLst>
          </p:cNvPr>
          <p:cNvSpPr/>
          <p:nvPr/>
        </p:nvSpPr>
        <p:spPr>
          <a:xfrm flipV="1">
            <a:off x="9312000" y="-1"/>
            <a:ext cx="2880000" cy="2880000"/>
          </a:xfrm>
          <a:prstGeom prst="triangle">
            <a:avLst>
              <a:gd name="adj" fmla="val 100000"/>
            </a:avLst>
          </a:prstGeom>
          <a:solidFill>
            <a:srgbClr val="ED72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75DFE0-D893-5DF8-5DAE-588A57F605C2}"/>
              </a:ext>
            </a:extLst>
          </p:cNvPr>
          <p:cNvSpPr/>
          <p:nvPr/>
        </p:nvSpPr>
        <p:spPr>
          <a:xfrm>
            <a:off x="0" y="0"/>
            <a:ext cx="1440000" cy="6858000"/>
          </a:xfrm>
          <a:prstGeom prst="rect">
            <a:avLst/>
          </a:prstGeom>
          <a:solidFill>
            <a:srgbClr val="1181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004586B4-5ACB-F2F7-276A-81571693D232}"/>
              </a:ext>
            </a:extLst>
          </p:cNvPr>
          <p:cNvSpPr/>
          <p:nvPr/>
        </p:nvSpPr>
        <p:spPr>
          <a:xfrm flipH="1">
            <a:off x="0" y="3977999"/>
            <a:ext cx="2880000" cy="2879999"/>
          </a:xfrm>
          <a:prstGeom prst="triangle">
            <a:avLst>
              <a:gd name="adj" fmla="val 100000"/>
            </a:avLst>
          </a:prstGeom>
          <a:solidFill>
            <a:srgbClr val="1181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09EF5507-C4FC-1D8D-C690-5934B9C00373}"/>
              </a:ext>
            </a:extLst>
          </p:cNvPr>
          <p:cNvSpPr/>
          <p:nvPr/>
        </p:nvSpPr>
        <p:spPr>
          <a:xfrm flipH="1" flipV="1">
            <a:off x="0" y="-1"/>
            <a:ext cx="2880000" cy="2880000"/>
          </a:xfrm>
          <a:prstGeom prst="triangle">
            <a:avLst>
              <a:gd name="adj" fmla="val 100000"/>
            </a:avLst>
          </a:prstGeom>
          <a:solidFill>
            <a:srgbClr val="1181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CFDCB3-103F-C6F5-6CAA-D63164214E53}"/>
              </a:ext>
            </a:extLst>
          </p:cNvPr>
          <p:cNvSpPr txBox="1"/>
          <p:nvPr/>
        </p:nvSpPr>
        <p:spPr>
          <a:xfrm>
            <a:off x="3647090" y="941557"/>
            <a:ext cx="4897820" cy="80021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4600" dirty="0">
                <a:solidFill>
                  <a:srgbClr val="ED7237"/>
                </a:solidFill>
                <a:latin typeface="Bauhaus 93"/>
              </a:rPr>
              <a:t>¡CONTACTANOS!</a:t>
            </a:r>
            <a:endParaRPr lang="es-MX" sz="4600">
              <a:solidFill>
                <a:srgbClr val="ED7237"/>
              </a:solidFill>
              <a:latin typeface="Bauhaus 93"/>
            </a:endParaRPr>
          </a:p>
        </p:txBody>
      </p:sp>
      <p:pic>
        <p:nvPicPr>
          <p:cNvPr id="6147" name="Picture 3">
            <a:extLst>
              <a:ext uri="{FF2B5EF4-FFF2-40B4-BE49-F238E27FC236}">
                <a16:creationId xmlns:a16="http://schemas.microsoft.com/office/drawing/2014/main" id="{F0A3FE10-581B-D3C1-8DFE-28CD278B0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8608" y="2148825"/>
            <a:ext cx="1995152" cy="2852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3E59D4C-9E45-B6B7-C0D7-627FAEED7543}"/>
              </a:ext>
            </a:extLst>
          </p:cNvPr>
          <p:cNvSpPr txBox="1"/>
          <p:nvPr/>
        </p:nvSpPr>
        <p:spPr>
          <a:xfrm>
            <a:off x="11472000" y="6273224"/>
            <a:ext cx="710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ln w="12700">
                  <a:noFill/>
                </a:ln>
                <a:solidFill>
                  <a:schemeClr val="bg1"/>
                </a:solidFill>
                <a:latin typeface="Bahnschrift SemiBold Condensed" panose="020B0502040204020203" pitchFamily="34" charset="0"/>
                <a:cs typeface="Aharoni" panose="02010803020104030203" pitchFamily="2" charset="-79"/>
              </a:rPr>
              <a:t>6</a:t>
            </a:r>
            <a:endParaRPr lang="es-MX" sz="3200">
              <a:ln w="12700">
                <a:noFill/>
              </a:ln>
              <a:solidFill>
                <a:schemeClr val="bg1"/>
              </a:solidFill>
              <a:latin typeface="Bahnschrift SemiBold Condensed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47389391"/>
      </p:ext>
    </p:extLst>
  </p:cSld>
  <p:clrMapOvr>
    <a:masterClrMapping/>
  </p:clrMapOvr>
  <p:transition spd="med">
    <p:push dir="u"/>
  </p:transition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BE65B7F9EFB24A8C8A6A90CAC4DD5B" ma:contentTypeVersion="12" ma:contentTypeDescription="Create a new document." ma:contentTypeScope="" ma:versionID="40803a321889b3e5abbfb0e6639e78b1">
  <xsd:schema xmlns:xsd="http://www.w3.org/2001/XMLSchema" xmlns:xs="http://www.w3.org/2001/XMLSchema" xmlns:p="http://schemas.microsoft.com/office/2006/metadata/properties" xmlns:ns3="4bef2775-9c41-4b0e-b382-1fb276cf9109" targetNamespace="http://schemas.microsoft.com/office/2006/metadata/properties" ma:root="true" ma:fieldsID="45834b4e22b10c45e1c097bba052670c" ns3:_="">
    <xsd:import namespace="4bef2775-9c41-4b0e-b382-1fb276cf910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ef2775-9c41-4b0e-b382-1fb276cf910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bef2775-9c41-4b0e-b382-1fb276cf9109" xsi:nil="true"/>
  </documentManagement>
</p:properties>
</file>

<file path=customXml/itemProps1.xml><?xml version="1.0" encoding="utf-8"?>
<ds:datastoreItem xmlns:ds="http://schemas.openxmlformats.org/officeDocument/2006/customXml" ds:itemID="{F2306CA5-BA49-474A-8C65-7A842A890C9D}">
  <ds:schemaRefs>
    <ds:schemaRef ds:uri="4bef2775-9c41-4b0e-b382-1fb276cf910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3C63195-9AF3-498F-A872-9AFE48E076C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AA2473-681F-4243-92BD-C2ED165F0E8C}">
  <ds:schemaRefs>
    <ds:schemaRef ds:uri="4bef2775-9c41-4b0e-b382-1fb276cf9109"/>
    <ds:schemaRef ds:uri="http://purl.org/dc/elements/1.1/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</Words>
  <Application>Microsoft Office PowerPoint</Application>
  <PresentationFormat>Widescreen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Bahnschrift SemiBold Condensed</vt:lpstr>
      <vt:lpstr>Bahnschrift SemiCondensed</vt:lpstr>
      <vt:lpstr>Bauhaus 93</vt:lpstr>
      <vt:lpstr>Neue Haas Grotesk Text Pro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Salvador  Garcia Bojorquez</dc:creator>
  <cp:lastModifiedBy>Salvador  Garcia Bojorquez</cp:lastModifiedBy>
  <cp:revision>2</cp:revision>
  <dcterms:created xsi:type="dcterms:W3CDTF">2025-11-12T16:07:26Z</dcterms:created>
  <dcterms:modified xsi:type="dcterms:W3CDTF">2025-11-30T02:26:46Z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0x01010061BE65B7F9EFB24A8C8A6A90CAC4DD5B</vt:lpwstr>
  </property>
</Properties>
</file>